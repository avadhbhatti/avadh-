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1.xml"/>
  <Override ContentType="application/vnd.openxmlformats-officedocument.presentationml.presProps+xml" PartName="/ppt/presProps1.xml"/>
  <Override ContentType="application/vnd.openxmlformats-officedocument.presentationml.tags+xml" PartName="/ppt/tags/tag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custDataLst>
    <p:tags r:id="rId20"/>
  </p:custDataLst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1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1" id="1" initials="" lastIdx="2" name="ABCD"/>
</p:cmAuthorLst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99F64EDB-5212-45B7-9244-A737500C02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tags" Target="tags/tag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23T17:04:01.362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0462cdbc_1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d0462cdbc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0462cdbc_1_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d0462cdbc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0462cdbc_1_2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462cdbc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0462cdbc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ed0462cdbc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88DD2888-ECD0-86D5-A2CF-4DFF1CD1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>
            <a:extLst>
              <a:ext uri="{FF2B5EF4-FFF2-40B4-BE49-F238E27FC236}">
                <a16:creationId xmlns:a16="http://schemas.microsoft.com/office/drawing/2014/main" id="{2D92D636-F741-BA79-A5A9-4DD57E0DB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ed0462cdbc_1_225:notes">
            <a:extLst>
              <a:ext uri="{FF2B5EF4-FFF2-40B4-BE49-F238E27FC236}">
                <a16:creationId xmlns:a16="http://schemas.microsoft.com/office/drawing/2014/main" id="{C15A7077-C074-7A85-D7CA-D488881BE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64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774501FE-B9A4-AF82-176F-2EDDE8AC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>
            <a:extLst>
              <a:ext uri="{FF2B5EF4-FFF2-40B4-BE49-F238E27FC236}">
                <a16:creationId xmlns:a16="http://schemas.microsoft.com/office/drawing/2014/main" id="{4E3E7721-74CA-3BC5-9265-FE3DF205B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d0462cdbc_1_233:notes">
            <a:extLst>
              <a:ext uri="{FF2B5EF4-FFF2-40B4-BE49-F238E27FC236}">
                <a16:creationId xmlns:a16="http://schemas.microsoft.com/office/drawing/2014/main" id="{4A29579C-D472-B409-9987-57ED92EA4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938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462cdbc_1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d0462cdbc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d0462cdbc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ed0462cdbc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0462cdbc_1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d0462cdbc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0462cdbc_1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d0462cdbc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836D-0EBD-055C-0DBB-DED1195CA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AF4BE-FE42-AE18-8489-B634AB0A1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32A13-6C69-D7C1-16C8-61CE88E8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FD5FE-0FA0-5703-1E41-F04BD475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F5EC-6892-E3B6-1F53-DF5201C6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9191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70FD-D757-3CA0-7265-054CDD79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1EF4F-B563-310E-F66F-176FB0FD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1DF3-0133-52C7-087B-E6958D7C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B05B-F0D0-9F3A-3809-5B55635A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1459D-01AB-45D0-ABBB-9BF43E4A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00299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09B3-985D-3F4C-8159-C80DC5AA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4EF08-7889-A8BD-F156-765BF414D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923AF-DA67-D841-C227-C8F79FA5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5C89-AC50-B5C4-BD64-840CC06B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8A41C-5E3C-388E-6EE9-03ABB50A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05145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70F4-BC3B-63F4-13F0-45F7201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B8F7-935D-F678-53EE-2B677BADE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9F252-873C-7A06-E56E-559770877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2076E-C94D-8555-30D4-188FA97A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FEBC9-A37E-796F-6FA1-FA8B850E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E220-6900-907D-A97A-14A1DFE7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93559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7B62-AA9A-68B3-DE5E-FC745F3E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AE04F-0205-E66E-5C28-D4BAF55E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E49ED-8C7C-DD18-F190-9B0971491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77C93-9DEC-4F76-B10D-0589098E6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C7475-859C-409D-5881-0C9CC0B0C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4039D-474B-9384-B3EC-C355E98B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9F217-49E5-2D82-7093-E9EE2464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F7536-ED94-66A0-470D-6F3B7C63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13117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49AC-91D2-EE13-A8ED-CEA41EDE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787AD-9FAA-9EE3-E6FD-C7A2CF64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15D95-5CA2-8859-E0D8-8C72540B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6FEDD-ECFA-D5C4-4EE3-D4215EB1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19138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C290C-CF68-3F91-D4EC-DFFAF870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41EA95-7C73-FA60-0099-AA31D32B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9DCA9-7ED9-D96B-5FEE-8A1D19E3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914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7DE2-5BD8-77C4-3F52-40A1A798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2A88-07CE-BBE5-93BB-225EB79A4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D6E0E-D656-B589-A576-37F038E97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B172D-DA8C-F44E-2427-018D20AA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A2F98-A6A4-CCEB-CE93-8159AF00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DA133-283F-9DB2-879D-96F3B119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34163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86F7-4EA4-AA13-2797-C2FB7A23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C3230-F5F6-66CC-6F9F-27E0477B9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9A6D-B3ED-BE3B-9185-411830289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DC2B7-49A2-5754-613A-5095A03C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FB6C-AD75-8AAB-C800-5AD27D8F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A04CC-FDD4-6AA9-488C-64D30EF7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530773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5552-8C1F-9D7F-35DE-47A40D02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E4360-899F-9AE4-C226-E0718772B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728D7-028D-6807-3DEC-D2E42326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9BA2-8F51-8A02-6319-D3F03B86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BD36-6256-06D6-1E10-4EE04700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35216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CFE92-8058-7D3D-46AD-57BF5A971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1225E-0866-16E4-A73B-A36EE3265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D6272-45EF-9CB8-A8A0-F3E6459A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0ED8-147A-6E15-5DF1-C993899B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F6EC-5EEB-C79D-ADC8-24BC7710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822222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8A6CFA-C664-F574-F946-3A9A050F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C2EF3-1685-8B90-81EC-496A56A7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F0BB9-C3FF-5C3B-6A12-96A1F954C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BA77F-D057-7F25-A53B-96BC62ADE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331D1-E389-39C6-03FA-F58E5B889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9212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ctrTitle"/>
          </p:nvPr>
        </p:nvSpPr>
        <p:spPr>
          <a:xfrm>
            <a:off x="311708" y="6007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IN" sz="4400" b="1" dirty="0">
                <a:latin typeface="Elephant" panose="02020904090505020303" pitchFamily="18" charset="0"/>
              </a:rPr>
              <a:t>Cybersecurity  for EV  Charging  Station</a:t>
            </a:r>
            <a:endParaRPr sz="4400" b="1" dirty="0">
              <a:latin typeface="Elephant" panose="02020904090505020303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lgerian" panose="04020705040A02060702" pitchFamily="82" charset="0"/>
              </a:rPr>
              <a:t>GTU SBTP -2026 (Subject Code: DI05000011)</a:t>
            </a:r>
            <a:endParaRPr sz="2800" dirty="0">
              <a:latin typeface="Algerian" panose="04020705040A02060702" pitchFamily="82" charset="0"/>
            </a:endParaRPr>
          </a:p>
        </p:txBody>
      </p:sp>
      <p:sp>
        <p:nvSpPr>
          <p:cNvPr id="124" name="Google Shape;124;p29"/>
          <p:cNvSpPr txBox="1">
            <a:spLocks noGrp="1"/>
          </p:cNvSpPr>
          <p:nvPr>
            <p:ph type="subTitle" idx="1"/>
          </p:nvPr>
        </p:nvSpPr>
        <p:spPr>
          <a:xfrm>
            <a:off x="965175" y="2782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Student Name 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Avadh Bhatti Dilipbhai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Enrollment no.: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246190309009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College Name 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Govt. polytechnic Junagadh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Branch and Year 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Electrical branch &amp; 2024 to 2027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Branch code: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09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Gender :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MALE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" sz="1400" b="1" dirty="0">
                <a:solidFill>
                  <a:schemeClr val="tx1"/>
                </a:solidFill>
              </a:rPr>
              <a:t>Registered Mail ID :</a:t>
            </a:r>
            <a:r>
              <a:rPr lang="en-IN" sz="1400" b="1" u="sng" dirty="0">
                <a:solidFill>
                  <a:schemeClr val="accent1"/>
                </a:solidFill>
              </a:rPr>
              <a:t>a.d.bhatti.2409@gmail.com</a:t>
            </a:r>
            <a:endParaRPr sz="1400" b="1" u="sng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chemeClr val="tx1"/>
                </a:solidFill>
              </a:rPr>
              <a:t>Contact No.</a:t>
            </a:r>
            <a:r>
              <a:rPr lang="en" sz="1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7405002828</a:t>
            </a:r>
            <a:endParaRPr sz="1400" b="1" u="sng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700" dirty="0">
              <a:solidFill>
                <a:srgbClr val="351C75"/>
              </a:solidFill>
            </a:endParaRPr>
          </a:p>
        </p:txBody>
      </p:sp>
      <p:pic>
        <p:nvPicPr>
          <p:cNvPr id="125" name="Google Shape;12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BharatCares_Original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564300" y="767616"/>
            <a:ext cx="8015400" cy="100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accent1"/>
                </a:solidFill>
                <a:latin typeface="Century" panose="02040604050505020304" pitchFamily="18" charset="0"/>
              </a:rPr>
              <a:t>What I learned in the Cybersecurity Program?</a:t>
            </a:r>
            <a:endParaRPr sz="3200" b="1" dirty="0">
              <a:solidFill>
                <a:schemeClr val="accent1"/>
              </a:solidFill>
              <a:latin typeface="Century" panose="020406040505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499082-B782-BC47-D0DC-BAB023A605AA}"/>
              </a:ext>
            </a:extLst>
          </p:cNvPr>
          <p:cNvSpPr txBox="1"/>
          <p:nvPr/>
        </p:nvSpPr>
        <p:spPr>
          <a:xfrm>
            <a:off x="88718" y="1976717"/>
            <a:ext cx="8869288" cy="2554545"/>
          </a:xfrm>
          <a:custGeom>
            <a:avLst/>
            <a:gdLst>
              <a:gd name="csX0" fmla="*/ 0 w 8855841"/>
              <a:gd name="csY0" fmla="*/ 0 h 2554545"/>
              <a:gd name="csX1" fmla="*/ 8855841 w 8855841"/>
              <a:gd name="csY1" fmla="*/ 0 h 2554545"/>
              <a:gd name="csX2" fmla="*/ 8855841 w 8855841"/>
              <a:gd name="csY2" fmla="*/ 2554545 h 2554545"/>
              <a:gd name="csX3" fmla="*/ 0 w 8855841"/>
              <a:gd name="csY3" fmla="*/ 2554545 h 2554545"/>
              <a:gd name="csX4" fmla="*/ 0 w 8855841"/>
              <a:gd name="csY4" fmla="*/ 0 h 2554545"/>
              <a:gd name="csX0" fmla="*/ 0 w 8869288"/>
              <a:gd name="csY0" fmla="*/ 0 h 2554545"/>
              <a:gd name="csX1" fmla="*/ 8869288 w 8869288"/>
              <a:gd name="csY1" fmla="*/ 0 h 2554545"/>
              <a:gd name="csX2" fmla="*/ 8855841 w 8869288"/>
              <a:gd name="csY2" fmla="*/ 2554545 h 2554545"/>
              <a:gd name="csX3" fmla="*/ 0 w 8869288"/>
              <a:gd name="csY3" fmla="*/ 2554545 h 2554545"/>
              <a:gd name="csX4" fmla="*/ 0 w 8869288"/>
              <a:gd name="csY4" fmla="*/ 0 h 2554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869288" h="2554545">
                <a:moveTo>
                  <a:pt x="0" y="0"/>
                </a:moveTo>
                <a:lnTo>
                  <a:pt x="8869288" y="0"/>
                </a:lnTo>
                <a:cubicBezTo>
                  <a:pt x="8864806" y="851515"/>
                  <a:pt x="8860323" y="1703030"/>
                  <a:pt x="8855841" y="2554545"/>
                </a:cubicBezTo>
                <a:lnTo>
                  <a:pt x="0" y="2554545"/>
                </a:lnTo>
                <a:lnTo>
                  <a:pt x="0" y="0"/>
                </a:lnTo>
                <a:close/>
              </a:path>
            </a:pathLst>
          </a:custGeom>
          <a:ln w="28575" cap="rnd">
            <a:prstDash val="solid"/>
            <a:round/>
          </a:ln>
          <a:scene3d>
            <a:camera prst="orthographicFront"/>
            <a:lightRig rig="threePt" dir="t"/>
          </a:scene3d>
          <a:sp3d>
            <a:bevelT w="44450" h="82550"/>
            <a:bevelB w="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Gained </a:t>
            </a:r>
            <a:r>
              <a:rPr lang="en-US" sz="1600" b="1" u="sng" dirty="0"/>
              <a:t>fundamental knowledge of cybersecurity </a:t>
            </a:r>
            <a:r>
              <a:rPr lang="en-US" sz="1600" dirty="0"/>
              <a:t>and information security concepts.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Learned about ethical </a:t>
            </a:r>
            <a:r>
              <a:rPr lang="en-US" sz="1600" b="1" u="sng" dirty="0"/>
              <a:t>hacking techniques and cyber attack methods</a:t>
            </a:r>
            <a:r>
              <a:rPr lang="en-US" sz="1600" u="sng" dirty="0"/>
              <a:t>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Understood different types of </a:t>
            </a:r>
            <a:r>
              <a:rPr lang="en-US" sz="1600" b="1" u="sng" dirty="0"/>
              <a:t>malware and their effects </a:t>
            </a:r>
            <a:r>
              <a:rPr lang="en-US" sz="1600" dirty="0"/>
              <a:t>on computer systems.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Developed basic skills in using </a:t>
            </a:r>
            <a:r>
              <a:rPr lang="en-US" sz="1600" b="1" u="sng" dirty="0"/>
              <a:t>Kali Linux</a:t>
            </a:r>
            <a:r>
              <a:rPr lang="en-US" sz="1600" b="1" dirty="0"/>
              <a:t> </a:t>
            </a:r>
            <a:r>
              <a:rPr lang="en-US" sz="1600" dirty="0"/>
              <a:t>and Linux commands.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Learned cybersecurity risk identification and </a:t>
            </a:r>
            <a:r>
              <a:rPr lang="en-US" sz="1600" b="1" u="sng" dirty="0"/>
              <a:t>prevention techniques</a:t>
            </a:r>
            <a:r>
              <a:rPr lang="en-US" sz="1600" dirty="0"/>
              <a:t>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Improved understanding of network security and common vulnerabilities.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Gained practical exposure through master classes, demonstrations, and online learning activities.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Enhanced analytical thinking and problem-solving skills related to cybersecurity.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en-US" sz="1600" dirty="0"/>
              <a:t>Learned the importance of secure practices and </a:t>
            </a:r>
            <a:r>
              <a:rPr lang="en-US" sz="1600" b="1" u="sng" dirty="0"/>
              <a:t>cyber awareness</a:t>
            </a:r>
            <a:r>
              <a:rPr lang="en-US" sz="1600" dirty="0"/>
              <a:t>.</a:t>
            </a:r>
          </a:p>
        </p:txBody>
      </p:sp>
      <p:pic>
        <p:nvPicPr>
          <p:cNvPr id="6" name="Google Shape;126;p29" title="BharatCares_Original@2x.png">
            <a:extLst>
              <a:ext uri="{FF2B5EF4-FFF2-40B4-BE49-F238E27FC236}">
                <a16:creationId xmlns:a16="http://schemas.microsoft.com/office/drawing/2014/main" id="{065DA17F-53B3-C25A-E0F7-506CF972DF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5;p29">
            <a:extLst>
              <a:ext uri="{FF2B5EF4-FFF2-40B4-BE49-F238E27FC236}">
                <a16:creationId xmlns:a16="http://schemas.microsoft.com/office/drawing/2014/main" id="{8323E361-A53A-8A92-F0DF-8A32809611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254220" y="717612"/>
            <a:ext cx="7990200" cy="626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5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sz="4000" b="1" dirty="0">
                <a:solidFill>
                  <a:schemeClr val="accent1"/>
                </a:solidFill>
                <a:latin typeface="Algerian" panose="04020705040A02060702" pitchFamily="82" charset="0"/>
                <a:ea typeface="IBM Plex Sans"/>
                <a:cs typeface="Times New Roman" panose="02020603050405020304" pitchFamily="18" charset="0"/>
                <a:sym typeface="IBM Plex Sans"/>
              </a:rPr>
              <a:t>Purpose of the Project.</a:t>
            </a:r>
            <a:endParaRPr sz="4000" dirty="0">
              <a:solidFill>
                <a:schemeClr val="accent1"/>
              </a:solidFill>
              <a:latin typeface="Algerian" panose="04020705040A02060702" pitchFamily="82" charset="0"/>
              <a:ea typeface="IBM Plex Sans"/>
              <a:cs typeface="Times New Roman" panose="02020603050405020304" pitchFamily="18" charset="0"/>
              <a:sym typeface="IBM Plex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0179A-AF55-B1C1-0F0B-5FA36C6C05AC}"/>
              </a:ext>
            </a:extLst>
          </p:cNvPr>
          <p:cNvSpPr txBox="1"/>
          <p:nvPr/>
        </p:nvSpPr>
        <p:spPr>
          <a:xfrm>
            <a:off x="254220" y="1344323"/>
            <a:ext cx="577882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develop a </a:t>
            </a:r>
            <a:r>
              <a:rPr lang="en-US" sz="2000" b="1" dirty="0"/>
              <a:t>Secure EV Charging Station</a:t>
            </a:r>
            <a:r>
              <a:rPr lang="en-US" sz="2000" dirty="0"/>
              <a:t> System that allows only </a:t>
            </a:r>
            <a:r>
              <a:rPr lang="en-US" sz="2000" b="1" dirty="0"/>
              <a:t>authorized users</a:t>
            </a:r>
            <a:r>
              <a:rPr lang="en-US" sz="2000" dirty="0"/>
              <a:t> to access charging services through </a:t>
            </a:r>
            <a:r>
              <a:rPr lang="en-US" sz="2000" b="1" dirty="0"/>
              <a:t>RFID Authentication</a:t>
            </a:r>
            <a:r>
              <a:rPr lang="en-US" sz="2000" dirty="0"/>
              <a:t>. The project aims to Enhance Cybersecurity in EV Infrastructure by </a:t>
            </a:r>
            <a:r>
              <a:rPr lang="en-US" sz="2000" b="1" dirty="0"/>
              <a:t>preventing unauthorized access</a:t>
            </a:r>
            <a:r>
              <a:rPr lang="en-US" sz="2000" dirty="0"/>
              <a:t>, monitoring charging activities, and ensuring safe and efficient energy utilization. It also provides practical knowledge of Embedded Systems, IoT Technology, Access Control Mechanisms, and </a:t>
            </a:r>
            <a:r>
              <a:rPr lang="en-US" sz="2000" b="1" dirty="0"/>
              <a:t>Cybersecurity Applications in Electrical Engineering.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D293B-AA45-1047-C101-E1F953DBB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429" y="1647265"/>
            <a:ext cx="3072653" cy="259528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Google Shape;126;p29" title="BharatCares_Original@2x.png">
            <a:extLst>
              <a:ext uri="{FF2B5EF4-FFF2-40B4-BE49-F238E27FC236}">
                <a16:creationId xmlns:a16="http://schemas.microsoft.com/office/drawing/2014/main" id="{FA406149-0832-0FCE-2A36-7F673682F6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5;p29">
            <a:extLst>
              <a:ext uri="{FF2B5EF4-FFF2-40B4-BE49-F238E27FC236}">
                <a16:creationId xmlns:a16="http://schemas.microsoft.com/office/drawing/2014/main" id="{9DA71FB9-C4F1-8087-D6E4-0F269DBDD5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/>
        </p:nvSpPr>
        <p:spPr>
          <a:xfrm>
            <a:off x="450450" y="206376"/>
            <a:ext cx="8243100" cy="5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Forte" panose="03060902040502070203" pitchFamily="66" charset="0"/>
                <a:ea typeface="IBM Plex Sans"/>
                <a:cs typeface="IBM Plex Sans"/>
                <a:sym typeface="IBM Plex Sans"/>
              </a:rPr>
              <a:t>Project Objectives</a:t>
            </a:r>
            <a:endParaRPr sz="3600" dirty="0">
              <a:solidFill>
                <a:schemeClr val="accent1"/>
              </a:solidFill>
              <a:latin typeface="Forte" panose="03060902040502070203" pitchFamily="66" charset="0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6472C-EB29-D13B-AE38-225E3AE581A1}"/>
              </a:ext>
            </a:extLst>
          </p:cNvPr>
          <p:cNvSpPr txBox="1"/>
          <p:nvPr/>
        </p:nvSpPr>
        <p:spPr>
          <a:xfrm>
            <a:off x="154641" y="1214548"/>
            <a:ext cx="536537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Implement RFID-based authentication.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Prevent unauthorized access to charging           stations.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Enhance cybersecurity in EV infrastructure.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Monitor charging activities.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Measure energy consumption.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Provide overcurrent protection.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Integrate IoT-based monitoring.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Improve safety and reliability.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Develop a low-cost smart solution.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Apply electrical engineering and cybersecurity concepts.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51241-1BA4-476C-786E-3FEA7430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018" y="1597122"/>
            <a:ext cx="3429000" cy="2331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Google Shape;126;p29" title="BharatCares_Original@2x.png">
            <a:extLst>
              <a:ext uri="{FF2B5EF4-FFF2-40B4-BE49-F238E27FC236}">
                <a16:creationId xmlns:a16="http://schemas.microsoft.com/office/drawing/2014/main" id="{7A416676-1B2D-044A-C8F6-5AB1FB13344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5;p29">
            <a:extLst>
              <a:ext uri="{FF2B5EF4-FFF2-40B4-BE49-F238E27FC236}">
                <a16:creationId xmlns:a16="http://schemas.microsoft.com/office/drawing/2014/main" id="{E13C027A-7B6B-4C51-45F7-74A6EED6C6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/>
        </p:nvSpPr>
        <p:spPr>
          <a:xfrm>
            <a:off x="502214" y="1003741"/>
            <a:ext cx="8015400" cy="5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Colonna MT" panose="04020805060202030203" pitchFamily="82" charset="0"/>
                <a:ea typeface="IBM Plex Sans"/>
                <a:cs typeface="IBM Plex Sans"/>
                <a:sym typeface="IBM Plex Sans"/>
              </a:rPr>
              <a:t>Need of the project.</a:t>
            </a:r>
            <a:endParaRPr sz="3600" dirty="0">
              <a:solidFill>
                <a:schemeClr val="accent1"/>
              </a:solidFill>
              <a:latin typeface="Colonna MT" panose="04020805060202030203" pitchFamily="82" charset="0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" name="Google Shape;126;p29" title="BharatCares_Original@2x.png">
            <a:extLst>
              <a:ext uri="{FF2B5EF4-FFF2-40B4-BE49-F238E27FC236}">
                <a16:creationId xmlns:a16="http://schemas.microsoft.com/office/drawing/2014/main" id="{BC3679E5-29DD-7D6F-F6D5-04E635FF10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5;p29">
            <a:extLst>
              <a:ext uri="{FF2B5EF4-FFF2-40B4-BE49-F238E27FC236}">
                <a16:creationId xmlns:a16="http://schemas.microsoft.com/office/drawing/2014/main" id="{604F8CF9-AFEB-51FD-4D0D-B961E4DD36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FA43C8-87D3-4197-EB67-D467290C2C21}"/>
              </a:ext>
            </a:extLst>
          </p:cNvPr>
          <p:cNvSpPr txBox="1"/>
          <p:nvPr/>
        </p:nvSpPr>
        <p:spPr>
          <a:xfrm>
            <a:off x="879208" y="1815353"/>
            <a:ext cx="7261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itka Subheading" pitchFamily="2" charset="0"/>
              </a:rPr>
              <a:t>- </a:t>
            </a:r>
            <a:r>
              <a:rPr lang="en-US" sz="2000" dirty="0">
                <a:latin typeface="Sitka Subheading" pitchFamily="2" charset="0"/>
              </a:rPr>
              <a:t>Cybersecurity threats in smart charging systems are     increasing.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Sitka Subheading" pitchFamily="2" charset="0"/>
              </a:rPr>
              <a:t>- </a:t>
            </a:r>
            <a:r>
              <a:rPr lang="en-US" sz="2000" dirty="0">
                <a:latin typeface="Sitka Subheading" pitchFamily="2" charset="0"/>
              </a:rPr>
              <a:t>There is a need for a safe, reliable, and cost-effective charging solution.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Sitka Subheading" pitchFamily="2" charset="0"/>
              </a:rPr>
              <a:t>- </a:t>
            </a:r>
            <a:r>
              <a:rPr lang="en-US" sz="2000" dirty="0">
                <a:latin typeface="Sitka Subheading" pitchFamily="2" charset="0"/>
              </a:rPr>
              <a:t>Increasing adoption of electric vehicles requires secure charging infrastructure.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Sitka Subheading" pitchFamily="2" charset="0"/>
              </a:rPr>
              <a:t>- </a:t>
            </a:r>
            <a:r>
              <a:rPr lang="en-US" sz="2000" dirty="0">
                <a:latin typeface="Sitka Subheading" pitchFamily="2" charset="0"/>
              </a:rPr>
              <a:t>Unauthorized access can lead to energy theft and misuse of charging stations.</a:t>
            </a:r>
            <a:endParaRPr lang="en-IN" sz="2000" dirty="0">
              <a:latin typeface="Sitka Subheading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E3994C4-63E9-0F7A-4813-AC64C12D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>
            <a:extLst>
              <a:ext uri="{FF2B5EF4-FFF2-40B4-BE49-F238E27FC236}">
                <a16:creationId xmlns:a16="http://schemas.microsoft.com/office/drawing/2014/main" id="{B4A77924-1B0B-59D0-9EFF-C9E53E8EBE07}"/>
              </a:ext>
            </a:extLst>
          </p:cNvPr>
          <p:cNvSpPr txBox="1"/>
          <p:nvPr/>
        </p:nvSpPr>
        <p:spPr>
          <a:xfrm>
            <a:off x="564300" y="928301"/>
            <a:ext cx="8015400" cy="44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accent1"/>
                </a:solidFill>
                <a:latin typeface="Footlight MT Light" panose="0204060206030A020304" pitchFamily="18" charset="0"/>
                <a:ea typeface="Tahoma"/>
                <a:cs typeface="Tahoma"/>
                <a:sym typeface="Tahoma"/>
              </a:rPr>
              <a:t>Enhancement Possibilities. </a:t>
            </a:r>
            <a:endParaRPr sz="2800" b="1" dirty="0">
              <a:solidFill>
                <a:schemeClr val="accent1"/>
              </a:solidFill>
              <a:latin typeface="Footlight MT Light" panose="0204060206030A020304" pitchFamily="18" charset="0"/>
              <a:ea typeface="Tahoma"/>
              <a:cs typeface="Tahoma"/>
              <a:sym typeface="Tahoma"/>
            </a:endParaRPr>
          </a:p>
        </p:txBody>
      </p:sp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41DAFE37-9FF3-4317-F03A-860EE2494D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0E606E97-5DC9-CC6B-421D-E829F48FA8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32983-5B30-A746-E8C2-0512A740F657}"/>
              </a:ext>
            </a:extLst>
          </p:cNvPr>
          <p:cNvSpPr txBox="1"/>
          <p:nvPr/>
        </p:nvSpPr>
        <p:spPr>
          <a:xfrm>
            <a:off x="1143000" y="2057400"/>
            <a:ext cx="70395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Mobile Application Control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Cloud-Based Monitoring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Online Payment Systems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Biometric Authentication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AI-Based Threat Detection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Smart Grid Integration</a:t>
            </a:r>
          </a:p>
          <a:p>
            <a:r>
              <a:rPr lang="en-US" b="1" dirty="0">
                <a:solidFill>
                  <a:schemeClr val="accent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-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EV Charging Infrastructure</a:t>
            </a:r>
            <a:endParaRPr lang="en-IN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90F294-25D2-8853-281D-69E29884A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540" y="1612134"/>
            <a:ext cx="4192120" cy="28507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3201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43AA8BE0-8E62-1C38-BB21-B553BBBD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>
            <a:extLst>
              <a:ext uri="{FF2B5EF4-FFF2-40B4-BE49-F238E27FC236}">
                <a16:creationId xmlns:a16="http://schemas.microsoft.com/office/drawing/2014/main" id="{43383EF6-0213-C8CF-2D9A-951212F94156}"/>
              </a:ext>
            </a:extLst>
          </p:cNvPr>
          <p:cNvSpPr txBox="1"/>
          <p:nvPr/>
        </p:nvSpPr>
        <p:spPr>
          <a:xfrm>
            <a:off x="564300" y="1064009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accent1"/>
                </a:solidFill>
                <a:latin typeface="Bodoni MT Black" panose="02070A03080606020203" pitchFamily="18" charset="0"/>
              </a:rPr>
              <a:t>Working Methodology.</a:t>
            </a:r>
            <a:endParaRPr sz="2500" dirty="0">
              <a:solidFill>
                <a:schemeClr val="accent1"/>
              </a:solidFill>
              <a:latin typeface="Bodoni MT Black" panose="02070A03080606020203" pitchFamily="18" charset="0"/>
              <a:ea typeface="Tahoma"/>
              <a:cs typeface="Tahoma"/>
              <a:sym typeface="Tahoma"/>
            </a:endParaRPr>
          </a:p>
        </p:txBody>
      </p:sp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4DA59393-3D2E-AC3A-2635-5E2307792C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7F8CE925-C361-C418-CD3C-D81C26C632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88E8E-C723-DF1E-7184-4DCA7BCED85C}"/>
              </a:ext>
            </a:extLst>
          </p:cNvPr>
          <p:cNvSpPr txBox="1"/>
          <p:nvPr/>
        </p:nvSpPr>
        <p:spPr>
          <a:xfrm>
            <a:off x="564300" y="2252382"/>
            <a:ext cx="363070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The system authenticates users through RFID, enables secure EV charging, monitors operation, and records charging data.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981EE2-BCEE-3EAF-2F21-B43472C2B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00" r="-790"/>
          <a:stretch>
            <a:fillRect/>
          </a:stretch>
        </p:blipFill>
        <p:spPr>
          <a:xfrm>
            <a:off x="4453311" y="767616"/>
            <a:ext cx="3090488" cy="42479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6168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497054" y="807051"/>
            <a:ext cx="8015400" cy="38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Advantages and Limitations of Project.</a:t>
            </a:r>
            <a:endParaRPr sz="2400" dirty="0">
              <a:solidFill>
                <a:schemeClr val="accent1"/>
              </a:solidFill>
              <a:latin typeface="Arial Black" panose="020B0A04020102020204" pitchFamily="34" charset="0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8" name="Google Shape;158;p35"/>
          <p:cNvGraphicFramePr/>
          <p:nvPr>
            <p:extLst>
              <p:ext uri="{D42A27DB-BD31-4B8C-83A1-F6EECF244321}">
                <p14:modId xmlns:p14="http://schemas.microsoft.com/office/powerpoint/2010/main" val="2952035280"/>
              </p:ext>
            </p:extLst>
          </p:nvPr>
        </p:nvGraphicFramePr>
        <p:xfrm>
          <a:off x="952500" y="1249687"/>
          <a:ext cx="7239000" cy="3743160"/>
        </p:xfrm>
        <a:graphic>
          <a:graphicData uri="http://schemas.openxmlformats.org/drawingml/2006/table">
            <a:tbl>
              <a:tblPr>
                <a:noFill/>
                <a:tableStyleId>{99F64EDB-5212-45B7-9244-A737500C026D}</a:tableStyleId>
              </a:tblPr>
              <a:tblGrid>
                <a:gridCol w="815788">
                  <a:extLst>
                    <a:ext uri="{9D8B030D-6E8A-4147-A177-3AD203B41FA5}">
                      <a16:colId xmlns:a16="http://schemas.microsoft.com/office/drawing/2014/main" val="161752657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8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Sr. no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ADVANTAGES</a:t>
                      </a:r>
                      <a:r>
                        <a:rPr lang="en" dirty="0"/>
                        <a:t> 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FF6600"/>
                          </a:solidFill>
                          <a:latin typeface="Arial Rounded MT Bold" panose="020F0704030504030204" pitchFamily="34" charset="0"/>
                        </a:rPr>
                        <a:t>LIMITATIONS</a:t>
                      </a:r>
                      <a:endParaRPr sz="2000" dirty="0">
                        <a:solidFill>
                          <a:srgbClr val="FF66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1.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Provides secure access through RFID authentication.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RFID cards can be lost or damaged.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2.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Prevents unauthorized use of charging stations.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Requires a stable power supply and proper hardware setup.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89503190"/>
                  </a:ext>
                </a:extLst>
              </a:tr>
              <a:tr h="748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3.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Easy to operate and user-friendly.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Basic RFID systems may have limited security compared to biometric systems.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4.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Improves cybersecurity in EV charging infrastructure.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Internet connection is required for advanced IoT features.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686738F6-62AB-54F5-2FDF-8092B4B23F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208BBFC2-A1DD-39E7-CBC5-A30798A395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564289" y="1090903"/>
            <a:ext cx="8015400" cy="44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faced in this project.</a:t>
            </a:r>
            <a:endParaRPr sz="28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Tahoma"/>
              <a:sym typeface="Tahoma"/>
            </a:endParaRPr>
          </a:p>
        </p:txBody>
      </p:sp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AA09219F-538F-234A-6B70-B7C58C6FA3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24B05ACE-18E3-1974-0E89-F5BC3D4DE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5DE773-AF65-DED9-B391-F0E7AA01E694}"/>
              </a:ext>
            </a:extLst>
          </p:cNvPr>
          <p:cNvSpPr txBox="1"/>
          <p:nvPr/>
        </p:nvSpPr>
        <p:spPr>
          <a:xfrm>
            <a:off x="1897143" y="1653988"/>
            <a:ext cx="59301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-</a:t>
            </a:r>
            <a:r>
              <a:rPr lang="en-US" dirty="0"/>
              <a:t> RFID and ESP32 integration.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Hardware wiring and troubleshooting.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Code debugging and testing.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Implementing secure authentication.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Simulation and performance testing.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Ensuring reliable system operation.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 txBox="1"/>
          <p:nvPr/>
        </p:nvSpPr>
        <p:spPr>
          <a:xfrm flipH="1">
            <a:off x="564300" y="1340575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stria"/>
              <a:buNone/>
            </a:pPr>
            <a:r>
              <a:rPr b="1" lang="en-US" sz="25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Git Hub Link for Project.</a:t>
            </a:r>
            <a:endParaRPr sz="2500">
              <a:solidFill>
                <a:schemeClr val="accen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656625" y="2485750"/>
            <a:ext cx="71187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https://github.com/avadhbhatti/Avadh-.git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" title="BharatCares_Original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/>
        </p:nvSpPr>
        <p:spPr>
          <a:xfrm>
            <a:off x="564289" y="1247828"/>
            <a:ext cx="8015400" cy="44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u="sng" dirty="0">
                <a:solidFill>
                  <a:schemeClr val="accent1"/>
                </a:solidFill>
                <a:latin typeface="Copperplate Gothic Bold" panose="020E0705020206020404" pitchFamily="34" charset="0"/>
              </a:rPr>
              <a:t>Conclusion</a:t>
            </a:r>
            <a:endParaRPr sz="2800" b="1" u="sng" dirty="0">
              <a:solidFill>
                <a:schemeClr val="accent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67157E38-DFF3-69B3-D2C1-CC4FD73C08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EEC2E08D-2609-DD0E-2E04-C11A959E99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722AA4-915F-932E-EFF4-C8D79A3D014C}"/>
              </a:ext>
            </a:extLst>
          </p:cNvPr>
          <p:cNvSpPr txBox="1"/>
          <p:nvPr/>
        </p:nvSpPr>
        <p:spPr>
          <a:xfrm>
            <a:off x="927847" y="2487706"/>
            <a:ext cx="73689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Developed a secure RFID-based EV charging system.</a:t>
            </a:r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Prevented unauthorized access through authentication.</a:t>
            </a:r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Improved security and monitoring of charging activities.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Integrated Electrical Engineering, </a:t>
            </a:r>
            <a:r>
              <a:rPr lang="en-US" dirty="0" err="1"/>
              <a:t>loT</a:t>
            </a:r>
            <a:r>
              <a:rPr lang="en-US" dirty="0"/>
              <a:t>, and Cybersecurity concepts.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- </a:t>
            </a:r>
            <a:r>
              <a:rPr lang="en-US" dirty="0"/>
              <a:t>Provided a reliable and scalable solution for smart EV charging infrastructure.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6;p29" title="BharatCares_Original@2x.png">
            <a:extLst>
              <a:ext uri="{FF2B5EF4-FFF2-40B4-BE49-F238E27FC236}">
                <a16:creationId xmlns:a16="http://schemas.microsoft.com/office/drawing/2014/main" id="{67269B33-B79A-A52E-E071-1B0F1A2B34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5;p29">
            <a:extLst>
              <a:ext uri="{FF2B5EF4-FFF2-40B4-BE49-F238E27FC236}">
                <a16:creationId xmlns:a16="http://schemas.microsoft.com/office/drawing/2014/main" id="{F062232A-1ACC-4AB4-4DBB-E4DB376041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BCC76C-F859-F9D5-647A-002175E23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oogle Shape;126;p29" title="BharatCares_Original@2x.png">
            <a:extLst>
              <a:ext uri="{FF2B5EF4-FFF2-40B4-BE49-F238E27FC236}">
                <a16:creationId xmlns:a16="http://schemas.microsoft.com/office/drawing/2014/main" id="{340FD6DB-62B0-96A4-970C-6E1FEDDFBD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112" y="3030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5;p29">
            <a:extLst>
              <a:ext uri="{FF2B5EF4-FFF2-40B4-BE49-F238E27FC236}">
                <a16:creationId xmlns:a16="http://schemas.microsoft.com/office/drawing/2014/main" id="{51238B0C-A5DA-843E-FB16-2361E6D879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6818" y="303055"/>
            <a:ext cx="1936072" cy="6458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10.xml" val="890590971"/>
  <p:tag name="ppt/slides/slide1.xml" val="2544072619"/>
  <p:tag name="ppt/slides/slide2.xml" val="1281279286"/>
  <p:tag name="ppt/slides/slide3.xml" val="95040541"/>
  <p:tag name="ppt/slides/slide4.xml" val="2396628097"/>
  <p:tag name="ppt/slides/slide5.xml" val="1723916013"/>
  <p:tag name="ppt/slides/slide6.xml" val="1470853258"/>
  <p:tag name="ppt/slides/slide7.xml" val="1312877625"/>
  <p:tag name="ppt/slides/slide8.xml" val="1768172983"/>
  <p:tag name="ppt/slides/slide9.xml" val="1557502932"/>
  <p:tag name="ppt/slides/slide11.xml" val="2653003382"/>
  <p:tag name="ppt/slides/slide12.xml" val="3060865265"/>
  <p:tag name="ppt/slideMasters/slideMaster1.xml" val="2927234563"/>
  <p:tag name="ppt/slideLayouts/slideLayout1.xml" val="905093260"/>
  <p:tag name="ppt/slideLayouts/slideLayout2.xml" val="3035228647"/>
  <p:tag name="ppt/slideLayouts/slideLayout3.xml" val="1125195152"/>
  <p:tag name="ppt/slideLayouts/slideLayout4.xml" val="1934208942"/>
  <p:tag name="ppt/slideLayouts/slideLayout5.xml" val="3121298503"/>
  <p:tag name="ppt/slideLayouts/slideLayout6.xml" val="3304840232"/>
  <p:tag name="ppt/slideLayouts/slideLayout7.xml" val="3891287455"/>
  <p:tag name="ppt/slideLayouts/slideLayout8.xml" val="986609798"/>
  <p:tag name="ppt/slideLayouts/slideLayout9.xml" val="548936344"/>
  <p:tag name="ppt/slideLayouts/slideLayout10.xml" val="4061386074"/>
  <p:tag name="ppt/slideLayouts/slideLayout11.xml" val="2911862636"/>
  <p:tag name="ppt/notesSlides/notesSlide1.xml" val="838613384"/>
  <p:tag name="ppt/notesSlides/notesSlide3.xml" val="2046210188"/>
  <p:tag name="ppt/notesSlides/notesSlide4.xml" val="2157798110"/>
  <p:tag name="ppt/notesSlides/notesSlide5.xml" val="2210163517"/>
  <p:tag name="ppt/notesSlides/notesSlide6.xml" val="3472797496"/>
  <p:tag name="ppt/notesSlides/notesSlide7.xml" val="756734748"/>
  <p:tag name="ppt/notesSlides/notesSlide2.xml" val="2252634058"/>
  <p:tag name="ppt/notesSlides/notesSlide9.xml" val="2408868491"/>
  <p:tag name="ppt/notesSlides/notesSlide10.xml" val="707163171"/>
  <p:tag name="ppt/notesSlides/notesSlide11.xml" val="2908580141"/>
  <p:tag name="ppt/notesSlides/notesSlide12.xml" val="2304012860"/>
  <p:tag name="ppt/notesSlides/notesSlide8.xml" val="3586412962"/>
  <p:tag name="ppt/media/image4.jpeg" val="1977102176"/>
  <p:tag name="ppt/media/image3.jpeg" val="2105098009"/>
  <p:tag name="ppt/media/image2.png" val="222662959"/>
  <p:tag name="ppt/media/image1.png" val="1583465455"/>
  <p:tag name="ppt/theme/theme2.xml" val="2569946419"/>
  <p:tag name="ppt/theme/theme1.xml" val="3778242084"/>
  <p:tag name="ppt/notesMasters/notesMaster1.xml" val="356502309"/>
  <p:tag name="ppt/media/image6.jpeg" val="2961452127"/>
  <p:tag name="ppt/media/image5.jpeg" val="838047467"/>
  <p:tag name="ppt/media/image7.jpeg" val="1546681549"/>
</p:tagLst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